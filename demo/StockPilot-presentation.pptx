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9E6B"/>
                </a:solidFill>
                <a:latin typeface="Calibri"/>
              </a:rPr>
              <a:t>DEVOPS FINAL CAPSTONE · SESSION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StockPilot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CBD5E1"/>
                </a:solidFill>
                <a:latin typeface="Calibri"/>
              </a:rPr>
              <a:t>Inventory management, shipped through a full DevOps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Kiran  ·  Roll No. 10446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github.com/Kirann1973/stockpilot-devops-capstone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9E6B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What StockPilot does and who it is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StockPilot · Kiran · Roll No. 10446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Problem  </a:t>
            </a:r>
            <a:r>
              <a:rPr sz="1600">
                <a:solidFill>
                  <a:srgbClr val="1E293B"/>
                </a:solidFill>
                <a:latin typeface="Calibri"/>
              </a:rPr>
              <a:t>Small stores and offices track stock in spreadsheets and run out of items without warning.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Solution  </a:t>
            </a:r>
            <a:r>
              <a:rPr sz="1600">
                <a:solidFill>
                  <a:srgbClr val="1E293B"/>
                </a:solidFill>
                <a:latin typeface="Calibri"/>
              </a:rPr>
              <a:t>A web dashboard: product catalogue with SKU, category, supplier and price.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Stock status  </a:t>
            </a:r>
            <a:r>
              <a:rPr sz="1600">
                <a:solidFill>
                  <a:srgbClr val="1E293B"/>
                </a:solidFill>
                <a:latin typeface="Calibri"/>
              </a:rPr>
              <a:t>In stock, Low stock (at or below the reorder level), Out of stock.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One-click updates  </a:t>
            </a:r>
            <a:r>
              <a:rPr sz="1600">
                <a:solidFill>
                  <a:srgbClr val="1E293B"/>
                </a:solidFill>
                <a:latin typeface="Calibri"/>
              </a:rPr>
              <a:t>Receive or ship stock with +10 / − buttons.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KPIs  </a:t>
            </a:r>
            <a:r>
              <a:rPr sz="1600">
                <a:solidFill>
                  <a:srgbClr val="1E293B"/>
                </a:solidFill>
                <a:latin typeface="Calibri"/>
              </a:rPr>
              <a:t>Product count, units on hand, inventory value, low and out-of-stock counts.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API  </a:t>
            </a:r>
            <a:r>
              <a:rPr sz="1600">
                <a:solidFill>
                  <a:srgbClr val="1E293B"/>
                </a:solidFill>
                <a:latin typeface="Calibri"/>
              </a:rPr>
              <a:t>FastAPI REST: CRUD on /api/products, stats, stock adjust, /health, /ready, /metrics.</a:t>
            </a:r>
          </a:p>
        </p:txBody>
      </p:sp>
      <p:pic>
        <p:nvPicPr>
          <p:cNvPr id="8" name="Picture 7" descr="14-ingress-brow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28800"/>
            <a:ext cx="5943600" cy="3865361"/>
          </a:xfrm>
          <a:prstGeom prst="rect">
            <a:avLst/>
          </a:prstGeom>
          <a:ln w="12700">
            <a:solidFill>
              <a:srgbClr val="D6DCE5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9E6B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Every layer from the browser to the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StockPilot · Kiran · Roll No. 10446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37744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810512"/>
            <a:ext cx="8686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React 18 + Vite, responsive CSS, Nginx (unprivileged)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67712"/>
            <a:ext cx="237744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49424"/>
            <a:ext cx="8686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FastAPI, SQLAlchemy 2, Alembic migrations, Pydantic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06624"/>
            <a:ext cx="237744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88336"/>
            <a:ext cx="8686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PostgreSQL 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45536"/>
            <a:ext cx="237744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127248"/>
            <a:ext cx="8686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Pytest, 14 tests on an isolated SQLite 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84448"/>
            <a:ext cx="237744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Containers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566160"/>
            <a:ext cx="8686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Docker (non-root images), Docker Compose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237744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CI/CD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005072"/>
            <a:ext cx="8686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GitHub Actions → GitHub Container Registry (tag = commit SHA)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62272"/>
            <a:ext cx="237744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443984"/>
            <a:ext cx="8686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Trivy image scan, fails on HIGH / CRITICAL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01183"/>
            <a:ext cx="237744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882896"/>
            <a:ext cx="8686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Terraform: AWS VPC + EKS 1.34 in ap-south-1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40096"/>
            <a:ext cx="237744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Kubernetes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321808"/>
            <a:ext cx="8686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Helm chart, NGINX Ingress, HPA, Argo CD (GitOps)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779008"/>
            <a:ext cx="237744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Observability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5760720"/>
            <a:ext cx="8686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Prometheus (kube-prometheus-stack) + Grafana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9E6B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From a git push to a monitored Kubernetes cluster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StockPilot · Kiran · Roll No. 10446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64592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Developer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git push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011680"/>
            <a:ext cx="201168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GitHub Actions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test · build · scan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011680"/>
            <a:ext cx="1737360" cy="822960"/>
          </a:xfrm>
          <a:prstGeom prst="round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GHCR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images :&lt;sha&gt;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011680"/>
            <a:ext cx="1920240" cy="822960"/>
          </a:xfrm>
          <a:prstGeom prst="roundRect">
            <a:avLst/>
          </a:prstGeom>
          <a:solidFill>
            <a:srgbClr val="C2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Argo CD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GitOps sync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2011680"/>
            <a:ext cx="2103120" cy="822960"/>
          </a:xfrm>
          <a:prstGeom prst="round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Terraform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AWS VPC + EKS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03120" y="2423160"/>
            <a:ext cx="457200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2423160"/>
            <a:ext cx="457200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66560" y="2423160"/>
            <a:ext cx="457200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3291840"/>
            <a:ext cx="112471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832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Calibri"/>
              </a:rPr>
              <a:t>Kubernetes cluster (Minikube live · EKS proven) · Helm chart helm/stockpilot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83879" y="2834640"/>
            <a:ext cx="0" cy="45720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4206240"/>
            <a:ext cx="1737360" cy="914400"/>
          </a:xfrm>
          <a:prstGeom prst="roundRect">
            <a:avLst/>
          </a:prstGeom>
          <a:solidFill>
            <a:srgbClr val="2F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Ingress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stockpilot.local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749039"/>
            <a:ext cx="2194560" cy="822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Frontend ×2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React on Nginx  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4846320"/>
            <a:ext cx="2194560" cy="822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Backend ×2–6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FastAPI  /api  (HPA)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4846320"/>
            <a:ext cx="1920240" cy="822960"/>
          </a:xfrm>
          <a:prstGeom prst="round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PostgreSQL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StatefulSet + PVC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3749039"/>
            <a:ext cx="1463040" cy="822960"/>
          </a:xfrm>
          <a:prstGeom prst="roundRect">
            <a:avLst/>
          </a:prstGeom>
          <a:solidFill>
            <a:srgbClr val="C24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Prometheus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ServiceMonitor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3749039"/>
            <a:ext cx="1463040" cy="822960"/>
          </a:xfrm>
          <a:prstGeom prst="roundRect">
            <a:avLst/>
          </a:prstGeom>
          <a:solidFill>
            <a:srgbClr val="C2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Grafana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2468880" y="4160520"/>
            <a:ext cx="548640" cy="50292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68880" y="4663440"/>
            <a:ext cx="548640" cy="59436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12080" y="5257800"/>
            <a:ext cx="640080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212080" y="4160520"/>
            <a:ext cx="3200400" cy="96012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875520" y="4160520"/>
            <a:ext cx="182880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760720" y="3886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scrapes /metrics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9E6B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CI/CD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.github/workflows/ci-cd.yml runs on every push to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StockPilot · Kiran · Roll No. 10446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1645920" cy="1463040"/>
          </a:xfrm>
          <a:prstGeom prst="roundRect">
            <a:avLst/>
          </a:prstGeom>
          <a:solidFill>
            <a:srgbClr val="2F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Test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pytest ×14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React build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83464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77440" y="2103120"/>
            <a:ext cx="1645920" cy="1463040"/>
          </a:xfrm>
          <a:prstGeom prst="roundRect">
            <a:avLst/>
          </a:prstGeom>
          <a:solidFill>
            <a:srgbClr val="2F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Terraform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fmt + validate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23360" y="283464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97680" y="2103120"/>
            <a:ext cx="1645920" cy="1463040"/>
          </a:xfrm>
          <a:prstGeom prst="round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Build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backend +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frontend images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283464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7920" y="2103120"/>
            <a:ext cx="1645920" cy="1463040"/>
          </a:xfrm>
          <a:prstGeom prst="roundRect">
            <a:avLst/>
          </a:prstGeom>
          <a:solidFill>
            <a:srgbClr val="C24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Trivy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fail on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HIGH/CRITICAL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63840" y="283464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38160" y="2103120"/>
            <a:ext cx="1645920" cy="1463040"/>
          </a:xfrm>
          <a:prstGeom prst="round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Push GHCR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tag = commit SHA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amd64 + arm64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84080" y="283464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58400" y="2103120"/>
            <a:ext cx="1645920" cy="1463040"/>
          </a:xfrm>
          <a:prstGeom prst="roundRect">
            <a:avLst/>
          </a:prstGeom>
          <a:solidFill>
            <a:srgbClr val="C2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GitOps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bump tag →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Argo CD syncs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Quality gate first  </a:t>
            </a:r>
            <a:r>
              <a:rPr sz="1600">
                <a:solidFill>
                  <a:srgbClr val="1E293B"/>
                </a:solidFill>
                <a:latin typeface="Calibri"/>
              </a:rPr>
              <a:t>A failing test stops the pipeline, so no broken image is ever built or pushed.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Traceability  </a:t>
            </a:r>
            <a:r>
              <a:rPr sz="1600">
                <a:solidFill>
                  <a:srgbClr val="1E293B"/>
                </a:solidFill>
                <a:latin typeface="Calibri"/>
              </a:rPr>
              <a:t>Every image is tagged with the Git commit SHA, never "latest". Commit → image → pod.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Multi-arch  </a:t>
            </a:r>
            <a:r>
              <a:rPr sz="1600">
                <a:solidFill>
                  <a:srgbClr val="1E293B"/>
                </a:solidFill>
                <a:latin typeface="Calibri"/>
              </a:rPr>
              <a:t>Images are published for amd64 (EKS) and arm64 (Apple Silicon Minikube).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Pull-based deploy  </a:t>
            </a:r>
            <a:r>
              <a:rPr sz="1600">
                <a:solidFill>
                  <a:srgbClr val="1E293B"/>
                </a:solidFill>
                <a:latin typeface="Calibri"/>
              </a:rPr>
              <a:t>CI only commits the new tag to Git. Argo CD pulls it into the cluster, so CI holds no cluster credentials.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9E6B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DevSecOps: Trivy security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The scan really blocked a vulnerable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StockPilot · Kiran · Roll No. 10446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566160" cy="1463040"/>
          </a:xfrm>
          <a:prstGeom prst="roundRect">
            <a:avLst/>
          </a:prstGeom>
          <a:solidFill>
            <a:srgbClr val="C24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Run #1: BLOCKED</a:t>
            </a:r>
          </a:p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7 HIGH CVEs in the backend image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566160" cy="1463040"/>
          </a:xfrm>
          <a:prstGeom prst="roundRect">
            <a:avLst/>
          </a:prstGeom>
          <a:solidFill>
            <a:srgbClr val="C2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Fix</a:t>
            </a:r>
          </a:p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Upgrade FastAPI / Starlette, remove pip + setuptools from the runtime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920240"/>
            <a:ext cx="3566160" cy="1463040"/>
          </a:xfrm>
          <a:prstGeom prst="roundRect">
            <a:avLst/>
          </a:prstGeom>
          <a:solidFill>
            <a:srgbClr val="2F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Runs #2–#4: CLEAN</a:t>
            </a:r>
          </a:p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0 HIGH / CRITICAL, images pushed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0" y="2651760"/>
            <a:ext cx="228600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09560" y="2651760"/>
            <a:ext cx="228600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749039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What is scanned  </a:t>
            </a:r>
            <a:r>
              <a:rPr sz="1600">
                <a:solidFill>
                  <a:srgbClr val="1E293B"/>
                </a:solidFill>
                <a:latin typeface="Calibri"/>
              </a:rPr>
              <a:t>Both images: OS packages (Debian, Alpine) and Python libraries, against public CVE databases.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Gate  </a:t>
            </a:r>
            <a:r>
              <a:rPr sz="1600">
                <a:solidFill>
                  <a:srgbClr val="1E293B"/>
                </a:solidFill>
                <a:latin typeface="Calibri"/>
              </a:rPr>
              <a:t>--severity HIGH,CRITICAL --ignore-unfixed --exit-code 1. On a finding the job fails and the push step is skipped.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Example CVE  </a:t>
            </a:r>
            <a:r>
              <a:rPr sz="1600">
                <a:solidFill>
                  <a:srgbClr val="1E293B"/>
                </a:solidFill>
                <a:latin typeface="Calibri"/>
              </a:rPr>
              <a:t>urllib3 2.7.0 (CVE-2026-97687): traffic interception via HTTPS proxy TLS configuration override. Fixed in 2.8.0.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What "clean" means  </a:t>
            </a:r>
            <a:r>
              <a:rPr sz="1600">
                <a:solidFill>
                  <a:srgbClr val="1E293B"/>
                </a:solidFill>
                <a:latin typeface="Calibri"/>
              </a:rPr>
              <a:t>No known fixable high-risk CVEs at scan time. It is one layer; SAST, secret scanning and runtime security are separate.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9E6B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Infrastructure as Code: Terraform on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terraform/ · region ap-south-1 (Mumbai)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StockPilot · Kiran · Roll No. 10446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VPC  </a:t>
            </a:r>
            <a:r>
              <a:rPr sz="1600">
                <a:solidFill>
                  <a:srgbClr val="1E293B"/>
                </a:solidFill>
                <a:latin typeface="Calibri"/>
              </a:rPr>
              <a:t>10.0.0.0/16 with 2 public + 2 private subnets across 2 AZs, one NAT gateway.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EKS 1.34  </a:t>
            </a:r>
            <a:r>
              <a:rPr sz="1600">
                <a:solidFill>
                  <a:srgbClr val="1E293B"/>
                </a:solidFill>
                <a:latin typeface="Calibri"/>
              </a:rPr>
              <a:t>Managed control plane, node group "main" with 2 × t3.medium in private subnets.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Modules  </a:t>
            </a:r>
            <a:r>
              <a:rPr sz="1600">
                <a:solidFill>
                  <a:srgbClr val="1E293B"/>
                </a:solidFill>
                <a:latin typeface="Calibri"/>
              </a:rPr>
              <a:t>terraform-aws-modules/vpc 5.21 and /eks 20.37, pinned versions.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Lifecycle  </a:t>
            </a:r>
            <a:r>
              <a:rPr sz="1600">
                <a:solidFill>
                  <a:srgbClr val="1E293B"/>
                </a:solidFill>
                <a:latin typeface="Calibri"/>
              </a:rPr>
              <a:t>init → plan (58 to add) → apply → verified 2 nodes Ready → destroy (58 destroyed).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Safety  </a:t>
            </a:r>
            <a:r>
              <a:rPr sz="1600">
                <a:solidFill>
                  <a:srgbClr val="1E293B"/>
                </a:solidFill>
                <a:latin typeface="Calibri"/>
              </a:rPr>
              <a:t>No credentials in Git: terraform.tfvars.example only, *.tfvars and state are git-ignored.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Cost  </a:t>
            </a:r>
            <a:r>
              <a:rPr sz="1600">
                <a:solidFill>
                  <a:srgbClr val="1E293B"/>
                </a:solidFill>
                <a:latin typeface="Calibri"/>
              </a:rPr>
              <a:t>About $0.25–0.30 per hour, destroyed the same day.</a:t>
            </a:r>
          </a:p>
        </p:txBody>
      </p:sp>
      <p:pic>
        <p:nvPicPr>
          <p:cNvPr id="8" name="Picture 7" descr="09c-aws-e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28800"/>
            <a:ext cx="3304178" cy="2148840"/>
          </a:xfrm>
          <a:prstGeom prst="rect">
            <a:avLst/>
          </a:prstGeom>
          <a:ln w="12700">
            <a:solidFill>
              <a:srgbClr val="D6DCE5"/>
            </a:solidFill>
          </a:ln>
        </p:spPr>
      </p:pic>
      <p:pic>
        <p:nvPicPr>
          <p:cNvPr id="9" name="Picture 8" descr="10-terraform-destr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114800"/>
            <a:ext cx="3233876" cy="2103120"/>
          </a:xfrm>
          <a:prstGeom prst="rect">
            <a:avLst/>
          </a:prstGeom>
          <a:ln w="12700">
            <a:solidFill>
              <a:srgbClr val="D6DCE5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9E6B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Kubernetes, Helm and GitOps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One Helm chart, deployed by Argo 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StockPilot · Kiran · Roll No. 10446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Helm chart  </a:t>
            </a:r>
            <a:r>
              <a:rPr sz="1600">
                <a:solidFill>
                  <a:srgbClr val="1E293B"/>
                </a:solidFill>
                <a:latin typeface="Calibri"/>
              </a:rPr>
              <a:t>helm/stockpilot: Deployments, ClusterIP Services, Ingress, HPA, Postgres StatefulSet + PVC, Secret.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Replicas  </a:t>
            </a:r>
            <a:r>
              <a:rPr sz="1600">
                <a:solidFill>
                  <a:srgbClr val="1E293B"/>
                </a:solidFill>
                <a:latin typeface="Calibri"/>
              </a:rPr>
              <a:t>Frontend ×2, backend ×2 (HPA scales up to 6 at 60% CPU).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Ingress  </a:t>
            </a:r>
            <a:r>
              <a:rPr sz="1600">
                <a:solidFill>
                  <a:srgbClr val="1E293B"/>
                </a:solidFill>
                <a:latin typeface="Calibri"/>
              </a:rPr>
              <a:t>/ → frontend, /api → backend on stockpilot.local (NGINX Ingress).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Probes  </a:t>
            </a:r>
            <a:r>
              <a:rPr sz="1600">
                <a:solidFill>
                  <a:srgbClr val="1E293B"/>
                </a:solidFill>
                <a:latin typeface="Calibri"/>
              </a:rPr>
              <a:t>/health for liveness, /ready checks the database before taking traffic.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HPA proven  </a:t>
            </a:r>
            <a:r>
              <a:rPr sz="1600">
                <a:solidFill>
                  <a:srgbClr val="1E293B"/>
                </a:solidFill>
                <a:latin typeface="Calibri"/>
              </a:rPr>
              <a:t>Under load, CPU hit 132% of target and the backend scaled 2 → 4 → 6 pods.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Argo CD  </a:t>
            </a:r>
            <a:r>
              <a:rPr sz="1600">
                <a:solidFill>
                  <a:srgbClr val="1E293B"/>
                </a:solidFill>
                <a:latin typeface="Calibri"/>
              </a:rPr>
              <a:t>Watches main; CI commits the new image SHA, Argo CD syncs the cluster automatically.</a:t>
            </a:r>
          </a:p>
        </p:txBody>
      </p:sp>
      <p:pic>
        <p:nvPicPr>
          <p:cNvPr id="8" name="Picture 7" descr="15-h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3093273" cy="2011680"/>
          </a:xfrm>
          <a:prstGeom prst="rect">
            <a:avLst/>
          </a:prstGeom>
          <a:ln w="12700">
            <a:solidFill>
              <a:srgbClr val="D6DCE5"/>
            </a:solidFill>
          </a:ln>
        </p:spPr>
      </p:pic>
      <p:pic>
        <p:nvPicPr>
          <p:cNvPr id="9" name="Picture 8" descr="11-kubernetes-he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977639"/>
            <a:ext cx="3444782" cy="2240280"/>
          </a:xfrm>
          <a:prstGeom prst="rect">
            <a:avLst/>
          </a:prstGeom>
          <a:ln w="12700">
            <a:solidFill>
              <a:srgbClr val="D6DCE5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9E6B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Observability: Prometheus + Grafana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kube-prometheus-stack, ServiceMonitor, provisioned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StockPilot · Kiran · Roll No. 10446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/metrics  </a:t>
            </a:r>
            <a:r>
              <a:rPr sz="1600">
                <a:solidFill>
                  <a:srgbClr val="1E293B"/>
                </a:solidFill>
                <a:latin typeface="Calibri"/>
              </a:rPr>
              <a:t>prometheus-fastapi-instrumentator exposes request counts and latency histograms.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Prometheus  </a:t>
            </a:r>
            <a:r>
              <a:rPr sz="1600">
                <a:solidFill>
                  <a:srgbClr val="1E293B"/>
                </a:solidFill>
                <a:latin typeface="Calibri"/>
              </a:rPr>
              <a:t>ServiceMonitor scrapes every backend pod: 6/6 targets UP during the load test.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Grafana  </a:t>
            </a:r>
            <a:r>
              <a:rPr sz="1600">
                <a:solidFill>
                  <a:srgbClr val="1E293B"/>
                </a:solidFill>
                <a:latin typeface="Calibri"/>
              </a:rPr>
              <a:t>"StockPilot API" dashboard: requests/s per endpoint, p95 latency, error rate, total requests, HPA pods, CPU per pod.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E293B"/>
                </a:solidFill>
                <a:latin typeface="Calibri"/>
              </a:rPr>
              <a:t>Result  </a:t>
            </a:r>
            <a:r>
              <a:rPr sz="1600">
                <a:solidFill>
                  <a:srgbClr val="1E293B"/>
                </a:solidFill>
                <a:latin typeface="Calibri"/>
              </a:rPr>
              <a:t>~1,300 req/s peak, ~500k requests, 0 server errors.</a:t>
            </a:r>
          </a:p>
        </p:txBody>
      </p:sp>
      <p:pic>
        <p:nvPicPr>
          <p:cNvPr id="8" name="Picture 7" descr="18-graf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28800"/>
            <a:ext cx="6748960" cy="4389120"/>
          </a:xfrm>
          <a:prstGeom prst="rect">
            <a:avLst/>
          </a:prstGeom>
          <a:ln w="12700">
            <a:solidFill>
              <a:srgbClr val="D6DCE5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9E6B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Key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What building this taught 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StockPilot · Kiran · Roll No. 10446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F9E6B"/>
                </a:solidFill>
                <a:latin typeface="Calibri"/>
              </a:rPr>
              <a:t>Gates beat good intentions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Tests and Trivy run before any push, so a bad commit cannot reach the registry. Run #1 proved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82880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9659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F9E6B"/>
                </a:solidFill>
                <a:latin typeface="Calibri"/>
              </a:rPr>
              <a:t>Tag by commit SHA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46888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Every running pod traces back to one exact commit, and rollback is just an older tag.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82880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9659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F9E6B"/>
                </a:solidFill>
                <a:latin typeface="Calibri"/>
              </a:rPr>
              <a:t>Infrastructure is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46888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58 AWS resources created and destroyed from the same files, repeatable and reviewable.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F9E6B"/>
                </a:solidFill>
                <a:latin typeface="Calibri"/>
              </a:rPr>
              <a:t>Platforms matter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0916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Apple Silicon needed multi-arch images; EKS versions have support windows that change cost.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406908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42062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F9E6B"/>
                </a:solidFill>
                <a:latin typeface="Calibri"/>
              </a:rPr>
              <a:t>Pull beats push for deploys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470916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Argo CD keeps the cluster equal to Git; CI never needs cluster credentials.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406908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9" y="42062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F9E6B"/>
                </a:solidFill>
                <a:latin typeface="Calibri"/>
              </a:rPr>
              <a:t>Measure, then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470916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The HPA only scaled once real load pushed CPU over target; Grafana showed it happening.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Calibri"/>
              </a:rPr>
              <a:t>Live walkthrough next: code → pipeline → Argo CD → Kubernetes → Prometheus → Grafana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Kiran  ·  Roll No. 10446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github.com/Kirann1973/stockpilot-devops-capstone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